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5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本章主要介绍项目背景的相关内容，包括核心概念、实现方法和技术要点。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本页介绍项目的研究背景、需求分析和应用场景，说明项目的立项依据与实际意义。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本章主要介绍项目概述的相关内容，包括核心概念、实现方法和技术要点。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本页概述项目的基本情况，包括项目简介、硬件设备、核心功能和技术特点。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本章主要介绍系统框图的相关内容，包括核心概念、实现方法和技术要点。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本页展示系统的五大模块组成，并预留硬件连接图位置。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本页详细说明系统的工作流程，包括初始化、采集、判断、执行四个关键步骤。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本页展示小组项目分工情况，包括小组信息、成员分工和分工原则。成员信息请根据实际情况补充。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本章主要介绍功能描述的相关内容，包括核心概念、实现方法和技术要点。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本页详细描述五大核心功能的实现方式、技术要点和关键函数，体现系统的完整功能链路。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本章主要介绍设计描述的相关内容，包括核心概念、实现方法和技术要点。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本页详细描述系统的接口设计，包括串口通信协议和关键函数接口，体现系统设计的规范性。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本页描述STM32主程序和Qt上位机的软件流程框图，体现系统的软件架构设计。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本章主要介绍项目展示及总结的相关内容，包括核心概念、实现方法和技术要点。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本页展示项目运行效果并总结调试经验。上方三个占位框请分别插入Qt界面截图、代码截图和硬件运行效果照片。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本页展示项目运行效果并总结调试经验。上方三个占位框请分别插入Qt界面截图、代码截图和硬件运行效果照片。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本页对项目进行总结，分享开发收获，并向指导教师、小组成员和华清远见表示感谢。最后以"感谢聆听，敬请指正"结束答辩。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5F3BFF4-3D92-4725-9195-043D32E11433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flipV="1">
            <a:off x="5081" y="810920"/>
            <a:ext cx="11664000" cy="208"/>
          </a:xfrm>
          <a:prstGeom prst="line">
            <a:avLst/>
          </a:prstGeom>
          <a:noFill/>
          <a:ln w="12700" cap="flat">
            <a:solidFill>
              <a:srgbClr val="DC464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" name="Group 8"/>
          <p:cNvGrpSpPr/>
          <p:nvPr/>
        </p:nvGrpSpPr>
        <p:grpSpPr>
          <a:xfrm>
            <a:off x="10091420" y="759008"/>
            <a:ext cx="2100580" cy="108000"/>
            <a:chOff x="10091420" y="759008"/>
            <a:chExt cx="2100580" cy="108000"/>
          </a:xfrm>
        </p:grpSpPr>
        <p:sp>
          <p:nvSpPr>
            <p:cNvPr id="9" name="AutoShape 9"/>
            <p:cNvSpPr/>
            <p:nvPr/>
          </p:nvSpPr>
          <p:spPr>
            <a:xfrm>
              <a:off x="10091420" y="759008"/>
              <a:ext cx="607947" cy="108000"/>
            </a:xfrm>
            <a:prstGeom prst="rect">
              <a:avLst/>
            </a:prstGeom>
            <a:solidFill>
              <a:srgbClr val="DC464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等线" panose="02010600030101010101" charset="-122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0837737" y="759008"/>
              <a:ext cx="607947" cy="108000"/>
            </a:xfrm>
            <a:prstGeom prst="rect">
              <a:avLst/>
            </a:prstGeom>
            <a:solidFill>
              <a:srgbClr val="353A4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等线" panose="02010600030101010101" charset="-122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1584053" y="759008"/>
              <a:ext cx="607947" cy="108000"/>
            </a:xfrm>
            <a:prstGeom prst="rect">
              <a:avLst/>
            </a:prstGeom>
            <a:solidFill>
              <a:srgbClr val="DC464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等线" panose="02010600030101010101" charset="-122"/>
                </a:rPr>
                <a:t> </a:t>
              </a:r>
              <a:endParaRPr lang="en-US" sz="1100"/>
            </a:p>
          </p:txBody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8760" y="182245"/>
            <a:ext cx="1625600" cy="47815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AutoShape 13"/>
          <p:cNvSpPr/>
          <p:nvPr/>
        </p:nvSpPr>
        <p:spPr>
          <a:xfrm>
            <a:off x="10003790" y="247015"/>
            <a:ext cx="232727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高端IT就业培训专家</a:t>
            </a:r>
            <a:endParaRPr lang="en-US"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22CD4B-A256-4B62-88EE-D1B885AEBCD7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89898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4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F5E05AF-6BB2-4900-8139-8BF94FD7EC60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41AC873-77E0-4D75-98EB-62589FA28511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EE4E488-292F-4A4C-B577-E5E05942FBE6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0D6F9CF-5DCB-4C04-A2C5-832015F52E94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7858B9-EE60-40D9-98C4-455921EE1F33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35000" indent="-406400"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3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3C33F25-B62C-4536-8F13-D2B34F2249EB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474E9CE-1892-4098-8843-56C0C261728C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DCB59BF-4468-4B0C-9C9B-839746FAC644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029F74D-AC17-450B-9161-9E84F3158106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1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2026/9/10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3E6E805-BE01-4606-8D3A-80A33A60A4C3}" type="slidenum">
              <a:rPr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0319334" y="3956210"/>
            <a:ext cx="2010665" cy="1733332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-5400000">
            <a:off x="8875531" y="3542207"/>
            <a:ext cx="2244192" cy="4387396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-5400000" flipV="1">
            <a:off x="10608643" y="5905598"/>
            <a:ext cx="644604" cy="1260200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162324" y="4294895"/>
            <a:ext cx="2179303" cy="1878709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091547" y="2705984"/>
            <a:ext cx="1193896" cy="1029221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091547" y="3302933"/>
            <a:ext cx="1193896" cy="1029221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 rot="-5400000">
            <a:off x="10062319" y="3302933"/>
            <a:ext cx="1193896" cy="1029221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>
            <a:off x="-134336" y="1131972"/>
            <a:ext cx="1947880" cy="1679207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 rot="5400000">
            <a:off x="1038141" y="-1038140"/>
            <a:ext cx="2174115" cy="4250395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5400000" flipV="1">
            <a:off x="920199" y="-298186"/>
            <a:ext cx="624475" cy="1220849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 rot="5400000">
            <a:off x="-145603" y="663026"/>
            <a:ext cx="2111252" cy="1820045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5400000">
            <a:off x="-79765" y="3025284"/>
            <a:ext cx="1156615" cy="99708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5400000" flipV="1">
            <a:off x="-79765" y="2446976"/>
            <a:ext cx="1156615" cy="997082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5400000">
            <a:off x="917325" y="2446976"/>
            <a:ext cx="1156615" cy="99708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505081" y="2896364"/>
            <a:ext cx="9169138" cy="1014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400" b="1" i="0" u="none" strike="noStrike" spc="300">
                <a:solidFill>
                  <a:srgbClr val="2B3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智能窗帘兼闹钟系统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5497011" y="4295153"/>
            <a:ext cx="1197979" cy="0"/>
          </a:xfrm>
          <a:prstGeom prst="line">
            <a:avLst/>
          </a:prstGeom>
          <a:noFill/>
          <a:ln w="12700" cap="flat">
            <a:solidFill>
              <a:srgbClr val="DC464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482273" y="4540885"/>
            <a:ext cx="1227455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</a:t>
            </a:r>
            <a:r>
              <a:rPr lang="en-US" sz="18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18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第十小组</a:t>
            </a:r>
            <a:r>
              <a:rPr lang="en-US" sz="18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__________</a:t>
            </a:r>
            <a:endParaRPr lang="en-US" sz="1100" dirty="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12640" y="1578610"/>
            <a:ext cx="2966720" cy="7880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1191262" y="5299343"/>
            <a:ext cx="1080001" cy="931036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-5400000">
            <a:off x="10415742" y="5076967"/>
            <a:ext cx="1205437" cy="2356630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-5400000" flipV="1">
            <a:off x="11346660" y="6346430"/>
            <a:ext cx="346240" cy="676900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1106926" y="5481263"/>
            <a:ext cx="1170583" cy="1009123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606046" y="4627801"/>
            <a:ext cx="641285" cy="55283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606046" y="4948444"/>
            <a:ext cx="641285" cy="552832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 rot="-5400000">
            <a:off x="11053210" y="4948444"/>
            <a:ext cx="641285" cy="55283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>
            <a:off x="-97871" y="824704"/>
            <a:ext cx="1419137" cy="1223394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 rot="5400000">
            <a:off x="756343" y="-756341"/>
            <a:ext cx="1583961" cy="3096645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5400000" flipV="1">
            <a:off x="670415" y="-217244"/>
            <a:ext cx="454964" cy="889455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 rot="5400000">
            <a:off x="-106080" y="483051"/>
            <a:ext cx="1538163" cy="132600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5400000">
            <a:off x="-58113" y="2204086"/>
            <a:ext cx="842657" cy="726429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5400000" flipV="1">
            <a:off x="-58113" y="1782757"/>
            <a:ext cx="842657" cy="726429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5400000">
            <a:off x="668321" y="1782757"/>
            <a:ext cx="842657" cy="726429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409070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88848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4644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230468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210246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256042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项目概述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338959" y="4399678"/>
            <a:ext cx="2692686" cy="783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2pPr marL="266700" indent="0"/>
            <a:lvl3pPr marL="723900" indent="0"/>
            <a:lvl4pPr marL="1181100" indent="0"/>
            <a:lvl5pPr marL="1638300" indent="0"/>
            <a:lvl6pPr marL="2095500" indent="0"/>
            <a:lvl7pPr marL="2552700" indent="0"/>
            <a:lvl8pPr marL="3009900" indent="0"/>
            <a:lvl9pPr marL="3467100" indent="0"/>
          </a:lstStyle>
          <a:p>
            <a:pPr marL="180975" indent="-180975" algn="l">
              <a:lnSpc>
                <a:spcPct val="125000"/>
              </a:lnSpc>
              <a:defRPr/>
            </a:pPr>
            <a:r>
              <a:rPr lang="zh-CN" altLang="en-US" sz="900" b="1" i="0" u="none" strike="noStrike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‘</a:t>
            </a:r>
            <a:endParaRPr lang="en-US" altLang="zh-CN" sz="900" b="1" i="0" u="none" strike="noStrike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180975" indent="-180975" algn="l">
              <a:lnSpc>
                <a:spcPct val="125000"/>
              </a:lnSpc>
              <a:defRPr/>
            </a:pPr>
            <a:endParaRPr lang="en-US" sz="900" b="0" i="0" u="none" strike="noStrike" dirty="0">
              <a:solidFill>
                <a:srgbClr val="000000"/>
              </a:solidFill>
              <a:latin typeface="华文细黑"/>
              <a:ea typeface="华文细黑"/>
              <a:cs typeface="华文细黑"/>
              <a:sym typeface="华文细黑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051866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31644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03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077440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系统框图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160357" y="4399678"/>
            <a:ext cx="2692686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200000"/>
              </a:lnSpc>
              <a:defRPr/>
            </a:pPr>
            <a:endParaRPr lang="en-US" sz="900" b="1" i="0" u="none" strike="noStrike" dirty="0">
              <a:solidFill>
                <a:srgbClr val="000000"/>
              </a:solidFill>
              <a:latin typeface="华文细黑"/>
              <a:ea typeface="华文细黑"/>
              <a:cs typeface="华文细黑"/>
              <a:sym typeface="华文细黑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873265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853042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8838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项目分工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945842" y="751904"/>
            <a:ext cx="1917080" cy="1993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5400" b="1" i="0" u="none" strike="noStrike" spc="6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699795" y="1032854"/>
            <a:ext cx="2546363" cy="5847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/CONTENTS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>
            <a:off x="4064965" y="1755435"/>
            <a:ext cx="3994466" cy="0"/>
          </a:xfrm>
          <a:prstGeom prst="line">
            <a:avLst/>
          </a:prstGeom>
          <a:noFill/>
          <a:ln w="12700" cap="flat">
            <a:solidFill>
              <a:srgbClr val="DC4649">
                <a:alpha val="100000"/>
              </a:srgbClr>
            </a:solidFill>
            <a:prstDash val="solid"/>
            <a:headEnd type="diamond" w="lg" len="lg"/>
            <a:tailEnd type="diamond" w="lg" len="lg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1191262" y="5299343"/>
            <a:ext cx="1080001" cy="931036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-5400000">
            <a:off x="10415742" y="5076967"/>
            <a:ext cx="1205437" cy="2356630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-5400000" flipV="1">
            <a:off x="11346660" y="6346430"/>
            <a:ext cx="346240" cy="676900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1106926" y="5481263"/>
            <a:ext cx="1170583" cy="1009123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606046" y="4627801"/>
            <a:ext cx="641285" cy="55283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606046" y="4948444"/>
            <a:ext cx="641285" cy="552832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 rot="-5400000">
            <a:off x="11053210" y="4948444"/>
            <a:ext cx="641285" cy="55283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>
            <a:off x="-97871" y="824704"/>
            <a:ext cx="1419137" cy="1223394"/>
          </a:xfrm>
          <a:prstGeom prst="triangle">
            <a:avLst>
              <a:gd name="adj" fmla="val 50000"/>
            </a:avLst>
          </a:prstGeom>
          <a:solidFill>
            <a:srgbClr val="D7D9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 rot="5400000">
            <a:off x="756343" y="-756341"/>
            <a:ext cx="1583961" cy="3096645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5400000" flipV="1">
            <a:off x="670415" y="-217244"/>
            <a:ext cx="454964" cy="889455"/>
          </a:xfrm>
          <a:prstGeom prst="rtTriangle">
            <a:avLst/>
          </a:prstGeom>
          <a:solidFill>
            <a:srgbClr val="DC47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 rot="5400000">
            <a:off x="-106080" y="483051"/>
            <a:ext cx="1538163" cy="132600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5400000">
            <a:off x="-58113" y="2204086"/>
            <a:ext cx="842657" cy="726429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5400000" flipV="1">
            <a:off x="-58113" y="1782757"/>
            <a:ext cx="842657" cy="726429"/>
          </a:xfrm>
          <a:prstGeom prst="triangle">
            <a:avLst>
              <a:gd name="adj" fmla="val 50000"/>
            </a:avLst>
          </a:prstGeom>
          <a:solidFill>
            <a:srgbClr val="BD40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5400000">
            <a:off x="668321" y="1782757"/>
            <a:ext cx="842657" cy="726429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17560" y="4399678"/>
            <a:ext cx="2692686" cy="956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2pPr marL="266700" indent="0"/>
            <a:lvl3pPr marL="723900" indent="0"/>
            <a:lvl4pPr marL="1181100" indent="0"/>
            <a:lvl5pPr marL="1638300" indent="0"/>
            <a:lvl6pPr marL="2095500" indent="0"/>
            <a:lvl7pPr marL="2552700" indent="0"/>
            <a:lvl8pPr marL="3009900" indent="0"/>
            <a:lvl9pPr marL="3467100" indent="0"/>
          </a:lstStyle>
          <a:p>
            <a:pPr marL="180975" indent="-180975" algn="l">
              <a:lnSpc>
                <a:spcPct val="125000"/>
              </a:lnSpc>
              <a:defRPr/>
            </a:pPr>
            <a:endParaRPr lang="en-US" sz="900" b="0" i="0" u="none" strike="noStrike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230468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210246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05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3256042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功能描述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338959" y="4399678"/>
            <a:ext cx="2692686" cy="1649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2pPr marL="581025" indent="0"/>
            <a:lvl3pPr marL="1038225" indent="0"/>
            <a:lvl4pPr marL="1495425" indent="0"/>
            <a:lvl5pPr marL="1952625" indent="0"/>
            <a:lvl6pPr marL="2409825" indent="0"/>
            <a:lvl7pPr marL="2867025" indent="0"/>
            <a:lvl8pPr marL="3324225" indent="0"/>
            <a:lvl9pPr marL="3781425" indent="0"/>
          </a:lstStyle>
          <a:p>
            <a:pPr marL="581025" lvl="1"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…</a:t>
            </a:r>
            <a:endParaRPr lang="en-US" sz="900" b="0" i="0" u="none" strike="noStrike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lvl="1" algn="l">
              <a:lnSpc>
                <a:spcPct val="125000"/>
              </a:lnSpc>
            </a:pPr>
            <a:endParaRPr lang="en-US" sz="900" b="0" i="0" u="none" strike="noStrike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051866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031644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06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6077440" y="3925823"/>
            <a:ext cx="2858518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设计描述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60135" y="4399915"/>
            <a:ext cx="2692400" cy="14363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2pPr marL="581025" indent="0"/>
            <a:lvl3pPr marL="1038225" indent="0"/>
            <a:lvl4pPr marL="1495425" indent="0"/>
            <a:lvl5pPr marL="1952625" indent="0"/>
            <a:lvl6pPr marL="2409825" indent="0"/>
            <a:lvl7pPr marL="2867025" indent="0"/>
            <a:lvl8pPr marL="3324225" indent="0"/>
            <a:lvl9pPr marL="3781425" indent="0"/>
          </a:lstStyle>
          <a:p>
            <a:pPr marL="180975" indent="-180975" algn="l">
              <a:lnSpc>
                <a:spcPct val="125000"/>
              </a:lnSpc>
              <a:defRPr/>
            </a:pPr>
            <a:endParaRPr lang="en-US" sz="900" b="1" i="0" u="none" strike="noStrike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873265" y="2780952"/>
            <a:ext cx="918118" cy="918118"/>
          </a:xfrm>
          <a:prstGeom prst="diamond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853042" y="2957480"/>
            <a:ext cx="2950112" cy="583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华文细黑"/>
                <a:ea typeface="华文细黑"/>
                <a:cs typeface="华文细黑"/>
                <a:sym typeface="华文细黑"/>
              </a:rPr>
              <a:t>07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8715375" y="3925570"/>
            <a:ext cx="304228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项目展示及总结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81755" y="4399678"/>
            <a:ext cx="2692686" cy="1684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>
            <a:lvl2pPr marL="581025" indent="0"/>
            <a:lvl3pPr marL="1038225" indent="0"/>
            <a:lvl4pPr marL="1495425" indent="0"/>
            <a:lvl5pPr marL="1952625" indent="0"/>
            <a:lvl6pPr marL="2409825" indent="0"/>
            <a:lvl7pPr marL="2867025" indent="0"/>
            <a:lvl8pPr marL="3324225" indent="0"/>
            <a:lvl9pPr marL="3781425" indent="0"/>
          </a:lstStyle>
          <a:p>
            <a:pPr algn="l">
              <a:lnSpc>
                <a:spcPct val="100000"/>
              </a:lnSpc>
            </a:pPr>
            <a:endParaRPr lang="en-US" sz="900" b="1" i="0" u="none" strike="noStrike" dirty="0">
              <a:solidFill>
                <a:srgbClr val="000000"/>
              </a:solidFill>
              <a:latin typeface="华文细黑"/>
              <a:ea typeface="华文细黑"/>
              <a:cs typeface="华文细黑"/>
              <a:sym typeface="华文细黑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3945842" y="751904"/>
            <a:ext cx="1917080" cy="1993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5400" b="1" i="0" u="none" strike="noStrike" spc="60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99795" y="1032854"/>
            <a:ext cx="2546363" cy="5847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/CONTENTS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>
            <a:off x="4064965" y="1755435"/>
            <a:ext cx="3994466" cy="0"/>
          </a:xfrm>
          <a:prstGeom prst="line">
            <a:avLst/>
          </a:prstGeom>
          <a:noFill/>
          <a:ln w="12700" cap="flat">
            <a:solidFill>
              <a:srgbClr val="DC4649">
                <a:alpha val="100000"/>
              </a:srgbClr>
            </a:solidFill>
            <a:prstDash val="solid"/>
            <a:headEnd type="diamond" w="lg" len="lg"/>
            <a:tailEnd type="diamond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Project Background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项目背景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随着物联网技术的快速发展，智能家居系统日益普及。传统闹钟功能单一，无法与环境光照联动；手动窗帘操作不便，缺乏智能化控制手段。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本项目将光照传感、舵机控制、蜂鸣器报警与Qt上位机交互相结合，设计一套智能窗帘兼闹钟系统，实现基于自然光照的智能唤醒。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需求分析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光照采集：实时采集户外光照强度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阈值判断：代码中设定光强阈值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自动唤醒：光照达标时蜂鸣器报警+舵机拉开窗帘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手动结束：用户通过Qt界面点击结束，系统停止响应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4191000"/>
            <a:ext cx="939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应用场景与意义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系统适用于家庭卧室、学生宿舍等场景，利用清晨自然光照实现温和唤醒，避免传统闹钟的突兀感。同时具备智能窗帘控制功能，提升居住舒适度与生活便利性。系统采用模块化设计，具备良好的可扩展性与实用价值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项目概述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Project Overview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项目概述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项目简介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本项目基于STM32微控制器，设计并实现一套智能窗帘兼闹钟系统。系统通过光敏传感器实时采集户外光照强度，在代码中设定光强阈值。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当光照低于阈值时，舵机和蜂鸣器均不工作；当光照达到阈值时，蜂鸣器启动报警，同时舵机转动拉开窗帘，实现自然唤醒功能。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硬件设备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STM32微控制器（主控单元）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光敏传感器（光照强度采集）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舵机（窗帘开合控制）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蜂鸣器（闹钟报警）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PC机（Qt上位机运行环境）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3937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核心功能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光照强度实时采集与显示</a:t>
            </a: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阈值比较与状态自动判断</a:t>
            </a: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蜂鸣器闹钟报警功能</a:t>
            </a: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舵机驱动窗帘自动开</a:t>
            </a:r>
            <a:r>
              <a:rPr lang="zh-CN" alt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启</a:t>
            </a: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Qt交互界面手动结束控制</a:t>
            </a: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604000" y="3937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技术特点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基于Keil uVision开发STM32固件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基于Qt Creator开发上位机界面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串口通信实现上下位机数据交互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状态机设计确保系统逻辑严谨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结束后系统锁定，防止误触发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系统框图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System Architecture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系统框图 - 模块组成与硬件连接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572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系统模块组成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本系统由以下五大模块组成：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STM32主控模块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系统核心，负责ADC采集、PWM输出、GPIO控制及串口通信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光敏采集模块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光敏电阻分压电路，经ADC转换为数字光照强度值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舵机控制模块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PWM信号驱动舵机转动，实现窗帘的开合控制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蜂鸣器驱动模块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GPIO输出方波驱动有源蜂鸣器，实现闹钟报警功能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 Qt上位机模块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串口通信显示光照数据，提供结束按钮交互控制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1651000"/>
            <a:ext cx="4318000" cy="4318000"/>
          </a:xfrm>
          <a:prstGeom prst="roundRect">
            <a:avLst>
              <a:gd name="adj" fmla="val 2352"/>
            </a:avLst>
          </a:prstGeom>
          <a:solidFill>
            <a:srgbClr val="F8F9FA">
              <a:alpha val="5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3556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【待补充】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STM32及使用原件的连接图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（请在此处插入硬件接线图）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4296" y="1320800"/>
            <a:ext cx="5432795" cy="53589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2921000"/>
            <a:ext cx="2159000" cy="3048000"/>
          </a:xfrm>
          <a:prstGeom prst="roundRect">
            <a:avLst>
              <a:gd name="adj" fmla="val 4705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937000" y="2921000"/>
            <a:ext cx="2159000" cy="3048000"/>
          </a:xfrm>
          <a:prstGeom prst="roundRect">
            <a:avLst>
              <a:gd name="adj" fmla="val 4705"/>
            </a:avLst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2921000"/>
            <a:ext cx="2159000" cy="3048000"/>
          </a:xfrm>
          <a:prstGeom prst="roundRect">
            <a:avLst>
              <a:gd name="adj" fmla="val 4705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763000" y="2921000"/>
            <a:ext cx="2159000" cy="3048000"/>
          </a:xfrm>
          <a:prstGeom prst="roundRect">
            <a:avLst>
              <a:gd name="adj" fmla="val 4705"/>
            </a:avLst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系统框图 - 工作流程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1524000" y="165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系统工作流程说明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上电后进入初始化状态，随后循环执行光照采集与阈值判断。当光照强度达到设定阈值时，系统触发闹钟与窗帘开启动作；用户通过Qt界面点击结束按钮后，系统进入锁定状态，后续光照变化不再触发任何动作。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524000" y="2921000"/>
            <a:ext cx="215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步骤一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系统初始化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GPIO、ADC、PWM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串口外设初始化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阈值参数配置</a:t>
            </a:r>
            <a:endParaRPr lang="en-US" sz="12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937000" y="2921000"/>
            <a:ext cx="215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步骤二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光照采集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光敏传感器采集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ADC转换为数值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串口上传至Qt</a:t>
            </a:r>
            <a:endParaRPr lang="en-US" sz="12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2921000"/>
            <a:ext cx="215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阈值判断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光照值与阈值比较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低于阈值：待机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达到阈值：触发</a:t>
            </a:r>
            <a:endParaRPr lang="en-US" sz="12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763000" y="2921000"/>
            <a:ext cx="215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步骤四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执行与结束</a:t>
            </a:r>
            <a:endParaRPr lang="en-US" sz="1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蜂鸣器报警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舵机拉开窗帘</a:t>
            </a:r>
            <a:b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Qt点击结束锁定</a:t>
            </a:r>
            <a:endParaRPr lang="en-US" sz="12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项目分工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小组信息</a:t>
            </a:r>
            <a:endParaRPr lang="en-US" sz="1100" dirty="0"/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小组名称</a:t>
            </a:r>
            <a:r>
              <a:rPr lang="en-US" sz="15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：____</a:t>
            </a:r>
            <a:r>
              <a:rPr lang="zh-CN" altLang="en-US" sz="15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第十小组</a:t>
            </a:r>
            <a:r>
              <a:rPr lang="en-US" sz="15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________________</a:t>
            </a:r>
            <a:endParaRPr lang="en-US" sz="15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项目名称：智能窗帘兼闹钟系统</a:t>
            </a:r>
            <a:endParaRPr lang="en-US" sz="15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endParaRPr lang="en-US" sz="15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成员分工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成员1（组长）</a:t>
            </a:r>
            <a:r>
              <a:rPr lang="zh-CN" alt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初铄</a:t>
            </a: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光敏采集、舵机、蜂鸣器驱动</a:t>
            </a:r>
            <a:r>
              <a:rPr lang="zh-CN" alt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，视频讲解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成员2</a:t>
            </a:r>
            <a:r>
              <a:rPr lang="zh-CN" alt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银鑫</a:t>
            </a: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400" b="1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33000"/>
              </a:lnSpc>
            </a:pPr>
            <a:r>
              <a:rPr lang="zh-CN" altLang="en-US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统筹敲定方案以及</a:t>
            </a:r>
            <a:r>
              <a:rPr lang="en-US" altLang="zh-CN" sz="1300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文档撰写PPT制作</a:t>
            </a:r>
            <a:endParaRPr lang="en-US" altLang="zh-CN" sz="1300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成员3</a:t>
            </a:r>
            <a:r>
              <a:rPr lang="zh-CN" alt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舒天晟</a:t>
            </a: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400" b="1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zh-CN" altLang="en-US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使用代码将</a:t>
            </a:r>
            <a:r>
              <a:rPr lang="en-US" altLang="zh-CN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</a:t>
            </a:r>
            <a:r>
              <a:rPr lang="zh-CN" altLang="en-US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altLang="zh-CN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Keil</a:t>
            </a:r>
            <a:r>
              <a:rPr lang="zh-CN" altLang="en-US" sz="13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连接起来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成员4</a:t>
            </a:r>
            <a:r>
              <a:rPr lang="zh-CN" alt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陈松桂</a:t>
            </a:r>
            <a:r>
              <a:rPr 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400" b="1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1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</a:t>
            </a:r>
            <a:r>
              <a:rPr lang="zh-CN" altLang="en-US" sz="1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界面设置，</a:t>
            </a:r>
            <a:r>
              <a:rPr lang="en-US" altLang="zh-CN" sz="1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</a:t>
            </a:r>
            <a:r>
              <a:rPr lang="zh-CN" altLang="en-US" sz="1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部分代码编辑</a:t>
            </a:r>
            <a:endParaRPr lang="en-US" sz="120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zh-CN" altLang="en-US" b="1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成员</a:t>
            </a:r>
            <a:r>
              <a:rPr lang="en-US" altLang="zh-CN" b="1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b="1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杨帆：</a:t>
            </a:r>
            <a:endParaRPr lang="en-US" altLang="zh-CN" b="1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zh-CN" altLang="en-US" sz="14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延迟代码讲解</a:t>
            </a:r>
            <a:endParaRPr lang="en-US" sz="1400" b="1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3810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 dirty="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05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功能描述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Function Description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 功能描述 - 核心功能实现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功能一：光照强度采集</a:t>
            </a:r>
            <a:endParaRPr lang="en-US" sz="1100" dirty="0"/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实现方式：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光敏电阻与定值电阻组成分压电路，输出模拟电压接入STM32的ADC输入引脚。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技术要点：</a:t>
            </a: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配置ADC为单次转换模式，定时采集光照值，经滤波处理后通过串口上传至Qt界面实时显示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1651000"/>
            <a:ext cx="444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功能二：阈值判断与触发</a:t>
            </a:r>
            <a:endParaRPr lang="en-US" sz="1100" dirty="0"/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实现方式：</a:t>
            </a: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在代码中定义光强阈值常量LIGHT_THRESHOLD，主循环中持续比较实时光照值与阈值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逻辑判断：</a:t>
            </a: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光照低于阈值时系统待机；光照达到或超过阈值时，立即触发蜂鸣器报警与舵机开启动作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4191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功能三：舵机窗帘控制</a:t>
            </a:r>
            <a:endParaRPr lang="en-US" sz="1100" dirty="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采用PWM信号驱动舵机，通过改变占空比控制转动角度。触发时舵机从0°转动至90°，</a:t>
            </a: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模拟拉开窗帘动作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191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功能四：蜂鸣器闹钟</a:t>
            </a:r>
            <a:endParaRPr lang="en-US" sz="1100" dirty="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GPIO输出一定频率的方波驱动有源蜂鸣器，触发时持续鸣叫，实现闹钟唤醒功能。可通过软件调节鸣叫频率与节奏</a:t>
            </a: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4191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功能五：Qt交互结束</a:t>
            </a:r>
            <a:endParaRPr lang="en-US" sz="1100" dirty="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用户苏醒后，在Qt界面点击"结束"按钮，系统通过串口发送结束指令。STM32接收到后进入锁定状态，关闭蜂鸣器与舵机，后续光照变化不再触发。</a:t>
            </a:r>
            <a:endParaRPr lang="en-US" sz="1300" b="0" i="0" u="none" strike="noStrike" dirty="0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 dirty="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06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设计描述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Design Description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设计描述 - 接口设计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699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串口通信协议设计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通信参数：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波特率：115200 bps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数据位：8位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停止位：1位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校验位：无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数据帧格式：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帧头(0xAA) + 命令字 + 数据 + 校验和 + 帧尾(0x55)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命令字定义：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0x01：STM32→Qt 上传光照数据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0x02：Qt→STM32 结束控制指令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0x03：STM32→Qt 系统状态反馈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关键函数接口设计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STM32固件层：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ADC_Init(void);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uint16_t Get_Light_Value(void);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Servo_SetAngle(uint8_t angle);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Beeper_On(void);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Beeper_Off(void);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UART_Send_Data(uint8_t *data, uint8_t len);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Qt应用层：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Serial_Init(QString port, int baud);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Data_Receive_Handler(void);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on_btnEnd_clicked(void);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53A4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 Update_Light_Display(uint16_t value);</a:t>
            </a:r>
            <a:endParaRPr lang="en-US" sz="1200" b="0" i="0" u="none" strike="noStrike">
              <a:solidFill>
                <a:srgbClr val="353A4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设计描述 - 软件流程框图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4699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STM32主程序流程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系统初始化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时钟配置 → GPIO初始化 → ADC初始化 → PWM初始化 → 串口初始化 → 变量初始化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主循环（while(1)）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采集光照值 → 串口上传数据 → 判断系统状态 → 若未锁定且光照≥阈值 → 触发蜂鸣器+舵机 → 检测是否收到结束指令 → 若收到则系统锁定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中断服务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串口接收中断：接收Qt指令，解析数据帧，设置系统状态标志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651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Qt上位机程序流程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应用启动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创建主窗口 → 初始化UI控件 → 扫描可用串口 → 等待用户连接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串口连接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用户选择串口号 → 设置波特率115200 → 打开串口 → 连接数据接收信号槽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数据接收与显示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readyRead信号触发 → 读取串口数据 → 解析数据帧 → 提取光照值 → 更新LCD显示 → 更新进度条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用户交互</a:t>
            </a:r>
            <a:endParaRPr lang="en-US" sz="1400" b="1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点击"结束"按钮 → 组装结束指令帧 → 串口发送 → 更新系统状态显示 → 按钮禁用</a:t>
            </a:r>
            <a:endParaRPr lang="en-US" sz="13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26000" y="2032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 spc="600" dirty="0">
                <a:solidFill>
                  <a:srgbClr val="DC464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07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921000" y="355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6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项目展示及总结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188">
            <a:off x="4826016" y="443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2286000" y="431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Demonstration &amp; Summary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</a:t>
            </a:r>
            <a:r>
              <a:rPr lang="en-US" sz="2800" b="1" i="0" u="none" strike="noStrike" spc="200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项目展示及总结</a:t>
            </a:r>
            <a:r>
              <a:rPr lang="en-US" sz="2800" b="1" i="0" u="none" strike="noStrike" spc="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1651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524000" y="1651000"/>
            <a:ext cx="3048000" cy="2540000"/>
          </a:xfrm>
          <a:prstGeom prst="roundRect">
            <a:avLst>
              <a:gd name="adj" fmla="val 4000"/>
            </a:avLst>
          </a:prstGeom>
          <a:solidFill>
            <a:srgbClr val="F8F9FA">
              <a:alpha val="5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651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【待补充】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Qt交互界面截图</a:t>
            </a:r>
            <a:endParaRPr lang="en-US" sz="1400" b="0" i="0" u="none" strike="noStrike">
              <a:solidFill>
                <a:srgbClr val="353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768" y="1162296"/>
            <a:ext cx="3206915" cy="509296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25" y="1270000"/>
            <a:ext cx="5905804" cy="4769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400000" flipV="1">
            <a:off x="670433" y="-217297"/>
            <a:ext cx="454914" cy="889508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-5400000" flipV="1">
            <a:off x="11346688" y="6346444"/>
            <a:ext cx="346202" cy="676910"/>
          </a:xfrm>
          <a:prstGeom prst="rtTriangle">
            <a:avLst/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</a:t>
            </a:r>
            <a:r>
              <a:rPr lang="en-US" sz="2800" b="1" i="0" u="none" strike="noStrike" spc="200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项目展示及总结</a:t>
            </a:r>
            <a:r>
              <a:rPr lang="en-US" sz="2800" b="1" i="0" u="none" strike="noStrike" spc="200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26443">
            <a:off x="1524024" y="1327150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524000" y="1651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1651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524000" y="1651000"/>
            <a:ext cx="9312275" cy="4351020"/>
          </a:xfrm>
          <a:prstGeom prst="roundRect">
            <a:avLst>
              <a:gd name="adj" fmla="val 4000"/>
            </a:avLst>
          </a:prstGeom>
          <a:solidFill>
            <a:srgbClr val="F8F9FA">
              <a:alpha val="5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da7f38a53c406928bc1f198f3268b155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3365" y="1651000"/>
            <a:ext cx="9331960" cy="4145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756285" y="-756285"/>
            <a:ext cx="1583944" cy="3096641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-106045" y="483108"/>
            <a:ext cx="1538224" cy="1326007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-5400000">
            <a:off x="10415778" y="5076952"/>
            <a:ext cx="1205484" cy="2356612"/>
          </a:xfrm>
          <a:prstGeom prst="rtTriangle">
            <a:avLst/>
          </a:prstGeom>
          <a:solidFill>
            <a:srgbClr val="353A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1106912" y="5481320"/>
            <a:ext cx="1170559" cy="1009142"/>
          </a:xfrm>
          <a:prstGeom prst="triangle">
            <a:avLst>
              <a:gd name="adj" fmla="val 50000"/>
            </a:avLst>
          </a:prstGeom>
          <a:solidFill>
            <a:srgbClr val="DC4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651000" y="762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 spc="4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项目总结与收获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1454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4649">
                <a:alpha val="100000"/>
              </a:srgbClr>
            </a:solidFill>
            <a:prstDash val="solid"/>
            <a:miter lim="1000000"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524000" y="1778000"/>
            <a:ext cx="4318000" cy="2032000"/>
          </a:xfrm>
          <a:prstGeom prst="roundRect">
            <a:avLst>
              <a:gd name="adj" fmla="val 5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7D9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651000" y="190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项目总结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14500" y="23495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项目成功实现了基于STM32的智能窗帘兼闹钟系统，通过光敏传感器采集光照强度，结合阈值判断逻辑，自动触发蜂鸣器报警与舵机窗帘控制，并通过Qt上位机实现交互控制与状态显示。系统功能完整，运行稳定，达到了预期设计目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4318000" cy="2032000"/>
          </a:xfrm>
          <a:prstGeom prst="roundRect">
            <a:avLst>
              <a:gd name="adj" fmla="val 5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7D9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90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收获与体会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3495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通过本次项目开发，深入掌握了STM32外设驱动开发（ADC、PWM、GPIO、UART），熟悉了Keil uVision与Qt Creator的开发流程，提升了软硬件协同设计与调试能力。同时，团队协作与问题解决能力也得到了显著锻炼。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4223258"/>
            <a:ext cx="9144000" cy="1270000"/>
          </a:xfrm>
          <a:prstGeom prst="roundRect">
            <a:avLst>
              <a:gd name="adj" fmla="val 8000"/>
            </a:avLst>
          </a:prstGeom>
          <a:solidFill>
            <a:srgbClr val="DC4649">
              <a:alpha val="8000"/>
            </a:srgbClr>
          </a:solidFill>
          <a:ln w="12700" cap="flat" cmpd="sng">
            <a:solidFill>
              <a:srgbClr val="DC464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651000" y="4254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DC46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致 谢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1651000" y="4699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感谢指导教师的悉心指导与耐心帮助！感谢小组成员的共同努力与协作！感谢华清远见提供的学习平台与技术支持</a:t>
            </a:r>
            <a:r>
              <a:rPr lang="en-US" sz="1800" b="0" i="0" u="none" strike="noStrike" dirty="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！</a:t>
            </a:r>
            <a:endParaRPr lang="en-US" dirty="0"/>
          </a:p>
        </p:txBody>
      </p:sp>
      <p:sp>
        <p:nvSpPr>
          <p:cNvPr id="17" name="AutoShape 17"/>
          <p:cNvSpPr/>
          <p:nvPr/>
        </p:nvSpPr>
        <p:spPr>
          <a:xfrm>
            <a:off x="2286000" y="571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spc="800">
                <a:solidFill>
                  <a:srgbClr val="353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感谢聆听，敬请指正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演示</Application>
  <PresentationFormat>宽屏</PresentationFormat>
  <Paragraphs>267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Arial</vt:lpstr>
      <vt:lpstr>Noto Sans SC</vt:lpstr>
      <vt:lpstr>等线 Light</vt:lpstr>
      <vt:lpstr>等线</vt:lpstr>
      <vt:lpstr>微软雅黑</vt:lpstr>
      <vt:lpstr>华文细黑</vt:lpstr>
      <vt:lpstr>微软雅黑 Light</vt:lpstr>
      <vt:lpstr>Consolas</vt:lpstr>
      <vt:lpstr>Arial Unicode MS</vt:lpstr>
      <vt:lpstr>KSOF429D5CD3</vt:lpstr>
      <vt:lpstr>Segoe Print</vt:lpstr>
      <vt:lpstr>Office 主题​​</vt:lpstr>
      <vt:lpstr>自定义主题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WPS_1721970127</cp:lastModifiedBy>
  <cp:revision>7</cp:revision>
  <dcterms:created xsi:type="dcterms:W3CDTF">2026-09-11T02:48:06Z</dcterms:created>
  <dcterms:modified xsi:type="dcterms:W3CDTF">2026-09-11T02:48:34Z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B4D5FA8DE36D45C595423A4467F8C57F_12</vt:lpwstr>
  </property>
  <property fmtid="{D5CDD505-2E9C-101B-9397-08002B2CF9AE}" pid="3" name="KSOProductBuildVer">
    <vt:lpwstr>2052-12.1.0.28505</vt:lpwstr>
  </property>
</Properties>
</file>